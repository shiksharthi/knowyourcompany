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Rajendra" userId="11b9fbb7-8b6a-4a93-8595-2a61faa8f21d" providerId="ADAL" clId="{01B4B3BB-A066-4E36-94E9-04F67263A6FD}"/>
    <pc:docChg chg="modSld">
      <pc:chgData name="Kumar, Rajendra" userId="11b9fbb7-8b6a-4a93-8595-2a61faa8f21d" providerId="ADAL" clId="{01B4B3BB-A066-4E36-94E9-04F67263A6FD}" dt="2026-08-06T07:09:45.478" v="3" actId="1076"/>
      <pc:docMkLst>
        <pc:docMk/>
      </pc:docMkLst>
      <pc:sldChg chg="modSp mod">
        <pc:chgData name="Kumar, Rajendra" userId="11b9fbb7-8b6a-4a93-8595-2a61faa8f21d" providerId="ADAL" clId="{01B4B3BB-A066-4E36-94E9-04F67263A6FD}" dt="2026-08-06T07:09:31.446" v="1" actId="1076"/>
        <pc:sldMkLst>
          <pc:docMk/>
          <pc:sldMk cId="0" sldId="262"/>
        </pc:sldMkLst>
        <pc:spChg chg="mod">
          <ac:chgData name="Kumar, Rajendra" userId="11b9fbb7-8b6a-4a93-8595-2a61faa8f21d" providerId="ADAL" clId="{01B4B3BB-A066-4E36-94E9-04F67263A6FD}" dt="2026-08-06T07:09:27.693" v="0" actId="14100"/>
          <ac:spMkLst>
            <pc:docMk/>
            <pc:sldMk cId="0" sldId="262"/>
            <ac:spMk id="2" creationId="{00000000-0000-0000-0000-000000000000}"/>
          </ac:spMkLst>
        </pc:spChg>
        <pc:graphicFrameChg chg="mod">
          <ac:chgData name="Kumar, Rajendra" userId="11b9fbb7-8b6a-4a93-8595-2a61faa8f21d" providerId="ADAL" clId="{01B4B3BB-A066-4E36-94E9-04F67263A6FD}" dt="2026-08-06T07:09:31.446" v="1" actId="1076"/>
          <ac:graphicFrameMkLst>
            <pc:docMk/>
            <pc:sldMk cId="0" sldId="262"/>
            <ac:graphicFrameMk id="3" creationId="{00000000-0000-0000-0000-000000000000}"/>
          </ac:graphicFrameMkLst>
        </pc:graphicFrameChg>
      </pc:sldChg>
      <pc:sldChg chg="modSp mod">
        <pc:chgData name="Kumar, Rajendra" userId="11b9fbb7-8b6a-4a93-8595-2a61faa8f21d" providerId="ADAL" clId="{01B4B3BB-A066-4E36-94E9-04F67263A6FD}" dt="2026-08-06T07:09:45.478" v="3" actId="1076"/>
        <pc:sldMkLst>
          <pc:docMk/>
          <pc:sldMk cId="0" sldId="263"/>
        </pc:sldMkLst>
        <pc:spChg chg="mod">
          <ac:chgData name="Kumar, Rajendra" userId="11b9fbb7-8b6a-4a93-8595-2a61faa8f21d" providerId="ADAL" clId="{01B4B3BB-A066-4E36-94E9-04F67263A6FD}" dt="2026-08-06T07:09:41.541" v="2" actId="14100"/>
          <ac:spMkLst>
            <pc:docMk/>
            <pc:sldMk cId="0" sldId="263"/>
            <ac:spMk id="2" creationId="{00000000-0000-0000-0000-000000000000}"/>
          </ac:spMkLst>
        </pc:spChg>
        <pc:graphicFrameChg chg="mod">
          <ac:chgData name="Kumar, Rajendra" userId="11b9fbb7-8b6a-4a93-8595-2a61faa8f21d" providerId="ADAL" clId="{01B4B3BB-A066-4E36-94E9-04F67263A6FD}" dt="2026-08-06T07:09:45.478" v="3" actId="1076"/>
          <ac:graphicFrameMkLst>
            <pc:docMk/>
            <pc:sldMk cId="0" sldId="263"/>
            <ac:graphicFrameMk id="3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ALLDATA Diagnostic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AI Model Cost Comparison Analysis</a:t>
            </a:r>
          </a:p>
          <a:p>
            <a:r>
              <a:t>Gemini 2.5 Pro vs Flash 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August 6, 2026</a:t>
            </a:r>
          </a:p>
          <a:p>
            <a:endParaRPr/>
          </a:p>
          <a:p>
            <a:r>
              <a:t>CMDB Application: ALLDATA Diagnostic Intelligence</a:t>
            </a:r>
          </a:p>
          <a:p>
            <a:r>
              <a:t>CMDB Global ID: 49533b7e773064d48e7adabaaf81dba5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B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Lower Environments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Pro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Flash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 (NA + EU)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Pro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$2,407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$3,157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With Cache (75% hit)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Difference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+$749/month (+31%)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Scenario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📋 ALLDATA Diagnostic Intelligence - AI Assist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🎯 Problem Statement: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Technicians need access to diagnostic insights from Gemini@AutoZone LLM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💼 Business 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Increase revenue through subscription-based AI-enhanced diagnostic tool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Position ALLDATA as industry leader in AI-assisted automotive diagnostics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Reduce diagnosis time with comprehensive diagnostic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Improve customer retention with one-stop DTC diagnosis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📅 Current Status: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⭐ Phase 1 Production Complete (North America)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🚀 Phase 2 Europe Expansion: Q4 FY26 - Q2 FY27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☁️ Cloud-Native Serverless Architecture: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[Technician] → [Akamai CDN] → [Ping Auth] → [APIGEE Gateway]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    → [Internal Load Balancer] → [Cloud Run - DI-AI Answers]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        → [AlloyDB Cache Check]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            → Cache Hit? → Return cached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            → Cache Miss → [Vertex AI Gemini 2.5]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                → Save to AlloyDB → Return diagnostic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🔑 Key Components: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Cloud Run: Auto-scaling serverless compute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AlloyDB: PostgreSQL-based cache (30-day validity)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Vertex AI: Gemini model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Cache Strategy: Reduces AI API costs by 70-80%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⚡ Quality Attributes: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Response Time SLA: 60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Request Size: ~100 Bytes | Response Size: ~6KB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Gemini 2.5 Pro vs Flash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Gemini 2.5 Pro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Gemini 2.5 Flash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Input Pricing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$1.25 / 1M tokens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$0.30 / 1M tokens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Output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$10.00 / 1M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$2.50 / 1M 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Ratio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4.2x more expensive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Diagnostic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⭐⭐⭐⭐⭐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 Very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Complex Cases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Superior handling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Good for common DTCs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Response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Comprehensive,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Fast, concise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Use Case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 - paying customers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Testing, common scenarios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Deprecation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⚠️ Oct 16,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⚠️ Oct 16,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Traffic &amp; Token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Requests/Month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 - North America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Live customer traffic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 -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 2 expansion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Pre-production testing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Integration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Development testing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194"/>
          </a:xfrm>
        </p:spPr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rPr dirty="0"/>
              <a:t>Scenario A: Pro for Lower, Flash for Prod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371659"/>
              </p:ext>
            </p:extLst>
          </p:nvPr>
        </p:nvGraphicFramePr>
        <p:xfrm>
          <a:off x="457200" y="1170750"/>
          <a:ext cx="8229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Environment/Region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Dev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Pro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$1,130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Pro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Lower Envs 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$1,656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 - 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$564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 - Europe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Flash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 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$2,407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$28,887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1474"/>
          </a:xfrm>
        </p:spPr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rPr dirty="0"/>
              <a:t>Scenario B: Flash for Lower, Pro for Prod 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52798"/>
              </p:ext>
            </p:extLst>
          </p:nvPr>
        </p:nvGraphicFramePr>
        <p:xfrm>
          <a:off x="457200" y="1096962"/>
          <a:ext cx="8229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Environment/Region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Flash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Flash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Lower Envs 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 - 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$2,255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 - Europe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2.5 Pro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$752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 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$3,157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$37,879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Side-by-Side Cost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B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Lower Environments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$1,656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-$1,505 (-91%) 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+$2,255 (+300%)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 MONTHLY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$2,407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$3,157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+$749 (+31%)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$28,887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$37,879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+$8,991 (+31%)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Cache Impact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Uncached Cost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Cache Hit Rate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Effective Monthly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Scenario 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$2,407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~$602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Scenario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~$187/month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Quality vs.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✅ Gemini 2.5 Pro Advantages (Production):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🎯 Superior diagnostic accuracy - Better at complex automotive troubleshooting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📋 More comprehensive responses - Detailed probable causes, diagnostic procedures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🧠 Better contextual understanding - Handles edge cases and rare DTCs effectively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⚡ Reduced technician time - Higher quality = faster problem resolution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💼 Business 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Supports premium subscription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Competitive differentiation in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Aligns with 'industry leader' positioning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Mitigates HLD risk: 'less accurate LLM responses'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✅ Gemini 2.5 Flash Advantages (Lower Environments):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💰 91% cost savings on testing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⚡ Faster development cycles - No budget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✅ Adequate quality for development and QA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Regional Cost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Traffic/Month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A (Flash)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B (Pro)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North America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$564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$2,255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+$1,691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Europe (Phase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+$564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$752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$3,006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+$2,255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Risk Assessment - Financial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Traffic exceeds estimates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overruns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Rate limiting, budget alerts at 80%/95%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 cache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Higher AI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Optimize cache, extend validity to 60-90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 deprecation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Migration costs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Plan Gemini 3.x migration Q3 FY26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Cost Optimization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💾 1. Cache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Current: 30-day cache validity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Recommendation: Extend to 60-90 days for stable DTC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Potential savings: +10-15% reduction in API calls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📊 2. Batch Processing for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Use case: Non-real-time diagnostic pattern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Batch API pricing: 50% discount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Application: Historical data analysis, trend reporting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🔀 3. Hybrid Routing (Advanced)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Common DTCs (80%) → Flash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Complex/rare DTCs (20%) → Pro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Estimated savings: 40-50% vs. Pro-only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Implementation: Q2-Q3 FY27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💡 4. Flash-Lite for Dev Environment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Use Gemini 2.5 Flash-Lite for Dev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Additional savings: ~$15-20/month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⭐ Recommendation: Scenario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Deploy Gemini 2.5 Flash for Lower Environments, Pro for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🎯 1. Quality Where It Matters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Production users receive highest quality diagnostic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Accuracy directly impacts revenue and customer satisfaction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💰 2. Cost-Effective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91% savings on lower environments ($1,505/month)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Enables unlimited testing without budget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💵 3. Manageable Premium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$749/month premium (31% increase)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With caching: Only ~$187/month effective cost difference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⚠️ 4. Risk Mitigation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HLD identifies 'less accurate LLM responses' as a risk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Pro model in production addresses this concern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🚀 5. Future-Proof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Enables hybrid routing optimization later (40-50% savings)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Supports premium pricing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Budget Recommendation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 Budget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Annual Budget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 1 (NA only)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$800 - $1,000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$10,000 - $12,000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 2 (NA + EU)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Q1-Q2 FY27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$3,200 - 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$38,000 - $42,000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 Infrastructure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 deployment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$4,000 - $5,000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$48,000 - $60,000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⚡ Phase 1: Immediate Actions (Q4 FY26) - Weeks 1-4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✅ Week 1-2: Deploy Scenario B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✅ Week 3-4: Set up monitoring dashboards and budget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📊 Phase 2: Short-term Optimization (Q1 FY27) - Months 2-4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📈 Analyze cache hit rates and optimize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🧪 A/B test Flash vs Pro (10% traffic split)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🔍 Evaluate Gemini 3.x migration path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🚀 Phase 3: Advanced Optimization (Q2-Q3 FY27) - Months 5-9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🤖 Implement hybrid routing (Flash for common, Pro for complex)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🔄 Complete Gemini 3.x migration (before Oct 2026 deadline)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📊 Quarterly cost optimization reviews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🎯 Key Milestones: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Q4 FY26: Budget approval and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Q1 FY27: Europe soft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Q2 FY27: Europe full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Q3 FY27: Gemini 3.x migration complete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Success Metrics &amp; KPIs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Monthly AI Cost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 $900 (Phase 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per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 $0.005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Monthly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Cache Hit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&gt; 75%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Diagnostic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&gt;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Weekly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Response Time SLA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 60 seconds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Technician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&gt; 4.5/5.0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Quarterly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Business 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Subscription Revenue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+15% YoY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Business 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&gt;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Monthly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Sensitivity Analysis - Traffic Scenarios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Traffic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 B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Conservative (50%)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120K/month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$1,204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$1,578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+$375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 Case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240K/month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$2,407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+$749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Aggressive (200%)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480K/month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$4,815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$6,313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+$1,499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Competitive Analysis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🏆 ALLDATA's Market Position: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Industry leader in automotive diagnostic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Subscription-based revenue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Target: Professional automotive technicians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🎯 Competitive Landscape: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Mitchell 1: Limited AI features (Basic)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Identifix: Traditional troubleshooting (Non-AI)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Chilton/Haynes: No AI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ALLDATA: ✅ Gemini-powered (Industry-leading)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💡 Differentiation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"Position ALLDATA as industry leader in AI-assisted automotive diagnostics"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Quality over cost maintains competitive advantage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Pro model delivers on brand promise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Premium experience justifies subscription pricing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First-mover advantage in AI-powered diagnostics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📊 Market Opportunity: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$749/month premium protects multi-million dollar subscription revenue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Next Steps &amp; Decision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⚡ Immediate Decision Required: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☑️ Scenario B: Flash for Lower Envs, Pro for Production - RECOMMENDED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☐ Scenario A: Pro for Lower Envs, Flash for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📅 Q4 FY26 (Current Quarter):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Finalize budget approval for Scenario 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Deploy selected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Set up monitoring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Begin Europe Phase 2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📅 Q1 FY27: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Complete 1-month production performance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Initiate A/B testing program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Europe soft launch (limited availability)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Gemini 3.x migration planning kickoff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📅 Q2-Q3 FY27: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Europe full production release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Implement hybrid routing in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Complete Gemini 3.x migration (before Oct 2026)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Quarterly cost optimization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💬 Open Discussion Topics: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1. Budget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Is the $749/month premium acceptable for quality improvement?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Any concerns about Phase 2 (EU) budget scaling?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2. Quality vs. Cost Trade-offs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Alignment with product vision and market positioning?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Risk tolerance for diagnostic accuracy?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3. Timeline &amp;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Any constraints on Q4 FY26 deployment?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Resource availability for monitoring setup?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4. Future Considerations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Interest in hybrid routing exploration?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Gemini 3.x migration timeline concerns?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📧 Contact: Technical Program Manager - ALLDATA Diagnostic Intelligence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📄 Supporting Documents: Detailed Cost Analysis Report, HLD v006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1952</Words>
  <Application>Microsoft Office PowerPoint</Application>
  <PresentationFormat>On-screen Show (4:3)</PresentationFormat>
  <Paragraphs>466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Executive Summary</vt:lpstr>
      <vt:lpstr>Background &amp; Context</vt:lpstr>
      <vt:lpstr>System Architecture Overview</vt:lpstr>
      <vt:lpstr>Gemini 2.5 Pro vs Flash Comparison</vt:lpstr>
      <vt:lpstr>Traffic &amp; Token Estimates</vt:lpstr>
      <vt:lpstr>Scenario A: Pro for Lower, Flash for Prod</vt:lpstr>
      <vt:lpstr>Scenario B: Flash for Lower, Pro for Prod ⭐</vt:lpstr>
      <vt:lpstr>Side-by-Side Cost Comparison</vt:lpstr>
      <vt:lpstr>Cache Impact Analysis</vt:lpstr>
      <vt:lpstr>Quality vs. Cost Analysis</vt:lpstr>
      <vt:lpstr>Regional Cost Breakdown</vt:lpstr>
      <vt:lpstr>Risk Assessment - Financial</vt:lpstr>
      <vt:lpstr>Cost Optimization Strategies</vt:lpstr>
      <vt:lpstr>⭐ Recommendation: Scenario B</vt:lpstr>
      <vt:lpstr>Budget Recommendation</vt:lpstr>
      <vt:lpstr>Implementation Roadmap</vt:lpstr>
      <vt:lpstr>Success Metrics &amp; KPIs</vt:lpstr>
      <vt:lpstr>Sensitivity Analysis - Traffic Scenarios</vt:lpstr>
      <vt:lpstr>Competitive Analysis Context</vt:lpstr>
      <vt:lpstr>Next Steps &amp; Decision Points</vt:lpstr>
      <vt:lpstr>Questions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Kumar, Rajendra</cp:lastModifiedBy>
  <cp:revision>1</cp:revision>
  <dcterms:created xsi:type="dcterms:W3CDTF">2013-01-27T09:14:16Z</dcterms:created>
  <dcterms:modified xsi:type="dcterms:W3CDTF">2026-08-06T07:09:54Z</dcterms:modified>
  <cp:category/>
</cp:coreProperties>
</file>