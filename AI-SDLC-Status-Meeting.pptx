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5FAC6-7799-6F61-8E60-95A98863CA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493927-5B14-4CD9-B91F-88BB4CFBCE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419D1-EEB8-196C-3162-31DC1D4EE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FF223-C059-4394-93EC-DD163DB53E4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115B0-982B-E1BE-D1BE-90D6A5AA2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9DC1E-66B8-5DD2-4B13-A077951A4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E239F-D317-4458-B167-9C516DA22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298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55129-42A0-749D-0179-4AA2631A8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E41B7-8A32-64E8-E35B-5AD0739C9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EF622F-9137-18D4-4185-1B230EE75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FF223-C059-4394-93EC-DD163DB53E4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8D3F1F-53DD-D79F-D1F4-56315D45C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BED6C-754F-3765-A5CF-CEC3C65DF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E239F-D317-4458-B167-9C516DA22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638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FCC92-B62B-BD35-DA98-3B158CA2A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DE6B4-1E7C-AE85-6054-8947E026E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B8E2C-603B-A286-8C0D-E9D7E5266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FF223-C059-4394-93EC-DD163DB53E4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BAD8E-12A1-25D4-C359-3391BE279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0F0078-4285-9BFE-1C32-89BE49C82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E239F-D317-4458-B167-9C516DA22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036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6E5AA-143C-2ACF-0211-EFF183863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28F6B-03A3-7B6E-DA01-AE0FE84610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D36B44-C76D-F7F0-BE95-FE7BD9F088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410AEC-1895-3629-0A2C-C2339648C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FF223-C059-4394-93EC-DD163DB53E4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293275-92BC-C538-0D40-51076BD9B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281436-8019-4D04-0A5B-49834F928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E239F-D317-4458-B167-9C516DA22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972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7BA39-ABC5-5FDD-AF9E-05EAFCBE0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8EBEEB-6337-EAF5-CC17-0C655C8E12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81519D-1EB5-9623-8FE8-F8D6BC5887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1626D3-C571-5CB6-59C4-556A2EF601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2E2DC8-0E5E-0664-5DE2-00CB516B00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ED01AC-F0FF-D0BB-2E26-9808D4599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FF223-C059-4394-93EC-DD163DB53E4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A1D7AC-FF20-F0A7-4C23-C1B0DDBB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56E74A-7232-5D2C-91E3-0D07CA51C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E239F-D317-4458-B167-9C516DA22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429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BD7DD-30AB-6957-2C22-F20AA2BA1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BFF68B-66C5-C66F-F0A8-E5E152408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FF223-C059-4394-93EC-DD163DB53E4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4144C2-3358-A5B3-12AC-83CE0742E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4451E2-7540-B460-A66D-BE219D775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E239F-D317-4458-B167-9C516DA22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954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0D5678-4333-7F2E-1389-F6D417320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FF223-C059-4394-93EC-DD163DB53E4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6D3409-0832-1F86-4CD3-CF5F6960E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661973-17C5-6A6B-05A7-BBDD04635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E239F-D317-4458-B167-9C516DA22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467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341E3-8B81-A622-ED7F-62479C3DB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BE9A3-8F90-BC42-F0C6-EBB59FA98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FABE3D-4EC1-9D6B-94E1-DF2C51C6AE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DE12B3-06D1-BB28-B596-10DA84CAA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FF223-C059-4394-93EC-DD163DB53E4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CE1C43-B459-5A80-741E-CE5FE4AF7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5FF93E-9D96-869F-C3EE-60392B3BE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E239F-D317-4458-B167-9C516DA22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224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1AEF2-4C1E-0677-D2C0-BA39E3E1E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782700-CEE8-0E8D-DA62-BAF15A0913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6EABEA-A9DA-C712-6D52-07045E855B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65B3FA-66E1-55A4-833A-B894E33F7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FF223-C059-4394-93EC-DD163DB53E4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7C7551-CA6A-6198-C525-E963324BC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80DF07-4DB6-6F88-96B3-86CCF3690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E239F-D317-4458-B167-9C516DA22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010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3026F-43D9-A866-1665-16C7F1016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907851-C5D1-3D23-93EE-5DCF50425D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2FEFC-48AB-FC14-F1A9-F0791806A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FF223-C059-4394-93EC-DD163DB53E4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B42D47-B23B-6F57-3092-9A0F042EA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BD28F-2FE4-8C56-FDCF-1AC06911A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E239F-D317-4458-B167-9C516DA22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234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C9B5A2-F4FC-8B3D-E0D6-2E84D0ED5D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E36400-6AE5-0A1D-1822-9AB8CF4128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AC9BB-9454-0433-876D-21BCBC364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FF223-C059-4394-93EC-DD163DB53E4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CA188-E664-A480-25A9-9E3C00C3F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4E409-E056-8D65-19F7-A5D0DF47F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E239F-D317-4458-B167-9C516DA22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322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0DCA3D-BDC2-75AA-9435-6F069CE95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A10738-556E-9460-4822-2E773CC31D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54144-A7E5-16D4-9CD8-BF690E370D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5FF223-C059-4394-93EC-DD163DB53E4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8C9C6C-7EAA-62FA-6D90-5822CD3B33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09C47-10BA-3B01-B4FA-2C6FBD1CDB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6E239F-D317-4458-B167-9C516DA22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716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F0490-5176-0E32-F23B-8767FD1679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AI SDLC Program Status Check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2287BA-37CB-28EE-4F87-6BB45AAB95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Sprint [X] | [Date]
Program Manager: [Your Name]</a:t>
            </a:r>
          </a:p>
        </p:txBody>
      </p:sp>
    </p:spTree>
    <p:extLst>
      <p:ext uri="{BB962C8B-B14F-4D97-AF65-F5344CB8AC3E}">
        <p14:creationId xmlns:p14="http://schemas.microsoft.com/office/powerpoint/2010/main" val="2260989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E73B12-4891-A771-7059-B7B1AA6017F7}"/>
              </a:ext>
            </a:extLst>
          </p:cNvPr>
          <p:cNvSpPr txBox="1"/>
          <p:nvPr/>
        </p:nvSpPr>
        <p:spPr>
          <a:xfrm>
            <a:off x="635000" y="635000"/>
            <a:ext cx="7620000" cy="10772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/>
              <a:t>Executive Summary - Program Health at a Glance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72265A-1430-FC7D-A856-B13A0E6AFD40}"/>
              </a:ext>
            </a:extLst>
          </p:cNvPr>
          <p:cNvSpPr txBox="1"/>
          <p:nvPr/>
        </p:nvSpPr>
        <p:spPr>
          <a:xfrm>
            <a:off x="635000" y="1524000"/>
            <a:ext cx="7620000" cy="461664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/>
              <a:t>MILESTONE STATUS
• Current: [M1/M2/M3]
• Target: [Date]
• Status: 🟢 On Track / 🟡 At Risk / 🔴 Behind
DECISION QUEUE
• DRs in queue: [X]
• Median age: [Y] days
• Aging &gt;5 days: [Z]
DEPENDENCIES
• Total active: [X]
• With owner+date: [Y%]
• Aging &gt;1 week: [Z] ⚠️
RISKS
• High: [X] | Medium: [X]
• Surprise escalations: [X]
Program Blocked Time: [X%] (Target: &lt;5%)
Sprint Velocity Trend: ↗️ / → / ↘️</a:t>
            </a:r>
          </a:p>
        </p:txBody>
      </p:sp>
    </p:spTree>
    <p:extLst>
      <p:ext uri="{BB962C8B-B14F-4D97-AF65-F5344CB8AC3E}">
        <p14:creationId xmlns:p14="http://schemas.microsoft.com/office/powerpoint/2010/main" val="1780217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44CD57-B207-C053-B0B9-FCE9B703F8C2}"/>
              </a:ext>
            </a:extLst>
          </p:cNvPr>
          <p:cNvSpPr txBox="1"/>
          <p:nvPr/>
        </p:nvSpPr>
        <p:spPr>
          <a:xfrm>
            <a:off x="635000" y="635000"/>
            <a:ext cx="7620000" cy="10772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/>
              <a:t>Queue Metrics - Decision Request Status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6513F5-1E4D-6F38-56D3-CD378BC76A26}"/>
              </a:ext>
            </a:extLst>
          </p:cNvPr>
          <p:cNvSpPr txBox="1"/>
          <p:nvPr/>
        </p:nvSpPr>
        <p:spPr>
          <a:xfrm>
            <a:off x="635000" y="1524000"/>
            <a:ext cx="7620000" cy="246221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/>
              <a:t>DR AGE DISTRIBUTION
• 0-2 days (Target zone): [X] DRs
• 3-5 days (SLA zone): [Y] DRs
• &gt;5 days (Escalation zone): [Z] DRs 🚨
KEY METRICS
• Median DR age: [X] days (Target: ≤2, SLA: ≤5)
• Pre-read compliance: [X%] (Target: 100%)
AGING DRs (&gt;5 days)
[Insert table with DR ID, Topic, Age, Owner, Status]</a:t>
            </a:r>
          </a:p>
        </p:txBody>
      </p:sp>
    </p:spTree>
    <p:extLst>
      <p:ext uri="{BB962C8B-B14F-4D97-AF65-F5344CB8AC3E}">
        <p14:creationId xmlns:p14="http://schemas.microsoft.com/office/powerpoint/2010/main" val="4230169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AC110B-42E4-B7EA-2FF2-3C220D8426D9}"/>
              </a:ext>
            </a:extLst>
          </p:cNvPr>
          <p:cNvSpPr txBox="1"/>
          <p:nvPr/>
        </p:nvSpPr>
        <p:spPr>
          <a:xfrm>
            <a:off x="635000" y="635000"/>
            <a:ext cx="7620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/>
              <a:t>Milestone &amp; Gate Tracking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464EFE-91BE-DE7D-958A-98FF8B988ADD}"/>
              </a:ext>
            </a:extLst>
          </p:cNvPr>
          <p:cNvSpPr txBox="1"/>
          <p:nvPr/>
        </p:nvSpPr>
        <p:spPr>
          <a:xfrm>
            <a:off x="635000" y="1524000"/>
            <a:ext cx="7620000" cy="35394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/>
              <a:t>CURRENT MILESTONE: [M1/M2/M3]
• Target date: [Date]
• Status: [On Track / At Risk / Behind]
GATE EVIDENCE CHECKLIST
✅ Demo evidence collected: [X of Y squads]
⚠️ E2 parity burn-down: [X%]
✅ UAT on golden demo tenant: [X of Y squads green]
⚠️ KPI snapshots: [list incomplete items]
SLIP SIGNALS
• [Squad/Workstream]: [Description] | Impact: [X weeks]
KNOWLEDGE-MIGRATION GATES
• Promotion gates cleared: [X of Y]
• Unpromoted domains: [List]</a:t>
            </a:r>
          </a:p>
        </p:txBody>
      </p:sp>
    </p:spTree>
    <p:extLst>
      <p:ext uri="{BB962C8B-B14F-4D97-AF65-F5344CB8AC3E}">
        <p14:creationId xmlns:p14="http://schemas.microsoft.com/office/powerpoint/2010/main" val="3046342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ECBBEE-81C4-9672-375F-01EC20F04F70}"/>
              </a:ext>
            </a:extLst>
          </p:cNvPr>
          <p:cNvSpPr txBox="1"/>
          <p:nvPr/>
        </p:nvSpPr>
        <p:spPr>
          <a:xfrm>
            <a:off x="635000" y="635000"/>
            <a:ext cx="8255000" cy="10772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/>
              <a:t>Dependency Brokering - Cross-Squad &amp; Cross-Tribe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5C67A1-6B15-4B94-A8BE-24BD23A3A110}"/>
              </a:ext>
            </a:extLst>
          </p:cNvPr>
          <p:cNvSpPr txBox="1"/>
          <p:nvPr/>
        </p:nvSpPr>
        <p:spPr>
          <a:xfrm>
            <a:off x="635000" y="1524000"/>
            <a:ext cx="7620000" cy="246221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/>
              <a:t>DEPENDENCY FUNNEL
• Total Dependencies: [X]
  ├─ With owner + date: [Y] (Target: 100%) ✅
  ├─ Aging &gt;1 week: [Z] ⚠️ 🚨
  └─ Resolved this sprint: [W] ✅
AGING DEPENDENCIES (&gt;1 week) - ESCALATION REQUIRED
[Insert table: Dependency, From Squad, To Squad, Age, Owner, Date]
CROSS-TRIBE BLOCKERS
• [Tribe A] → [Tribe B]: [Blocker] | Owner: [Name] | Date: [Date]</a:t>
            </a:r>
          </a:p>
        </p:txBody>
      </p:sp>
    </p:spTree>
    <p:extLst>
      <p:ext uri="{BB962C8B-B14F-4D97-AF65-F5344CB8AC3E}">
        <p14:creationId xmlns:p14="http://schemas.microsoft.com/office/powerpoint/2010/main" val="2749664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52A2B3-FFF6-FA1F-A459-5C97C4FF5B83}"/>
              </a:ext>
            </a:extLst>
          </p:cNvPr>
          <p:cNvSpPr txBox="1"/>
          <p:nvPr/>
        </p:nvSpPr>
        <p:spPr>
          <a:xfrm>
            <a:off x="635000" y="635000"/>
            <a:ext cx="7620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/>
              <a:t>Risk Register Review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3CBC21-3EA8-B1AF-2272-6B6E40EF9B36}"/>
              </a:ext>
            </a:extLst>
          </p:cNvPr>
          <p:cNvSpPr txBox="1"/>
          <p:nvPr/>
        </p:nvSpPr>
        <p:spPr>
          <a:xfrm>
            <a:off x="635000" y="1524000"/>
            <a:ext cx="7620000" cy="28931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/>
              <a:t>ACTIVE RISKS
• High: [X] | Medium: [X] | Low: [X]
TOP HIGH RISKS
1. [Risk description] | Mitigation: [plan] | Owner: [name] | Status: [status]
2. [Risk description] | Mitigation: [plan] | Owner: [name] | Status: [status]
NEW TRIGGERS SINCE LAST REVIEW
• [Trigger description] → Added on [date]
SURPRISE ESCALATIONS
• Count: [X] (Target: 0)
• [If any, list with root cause]</a:t>
            </a:r>
          </a:p>
        </p:txBody>
      </p:sp>
    </p:spTree>
    <p:extLst>
      <p:ext uri="{BB962C8B-B14F-4D97-AF65-F5344CB8AC3E}">
        <p14:creationId xmlns:p14="http://schemas.microsoft.com/office/powerpoint/2010/main" val="4002864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8386C4-8840-A186-03A9-CF986FB476A7}"/>
              </a:ext>
            </a:extLst>
          </p:cNvPr>
          <p:cNvSpPr txBox="1"/>
          <p:nvPr/>
        </p:nvSpPr>
        <p:spPr>
          <a:xfrm>
            <a:off x="635000" y="635000"/>
            <a:ext cx="7620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/>
              <a:t>Adoption &amp; Team Health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713D50-E1C6-7B72-18EB-CA45ABA8D95F}"/>
              </a:ext>
            </a:extLst>
          </p:cNvPr>
          <p:cNvSpPr txBox="1"/>
          <p:nvPr/>
        </p:nvSpPr>
        <p:spPr>
          <a:xfrm>
            <a:off x="635000" y="1524000"/>
            <a:ext cx="7620000" cy="35394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/>
              <a:t>CHARTER RATIFICATIONS: [X of Y squads] ([Z%])
FIRST-SPRINT CHECKLISTS: [X of Y squads] ([Z%])
PLAYBOOK CERTIFICATIONS
• Systems Engineers: [X/Y] ([Z%])
• Data Engineers: [X/Y] ([Z%])
• Software Engineers: [X/Y] ([Z%])
• Product Owners: [X/Y] ([Z%])
• Architects: [X/Y] ([Z%])
BMAD WORKFLOW ADOPTION
• Full BMad cycle: [X of Y squads] ([Z%])
• Stories in-repo with Jira sync: [X%]
• DoR gate compliance: [X%]
PROGRAM BLOCKED TIME: [X%] (Target: &lt;5%)</a:t>
            </a:r>
          </a:p>
        </p:txBody>
      </p:sp>
    </p:spTree>
    <p:extLst>
      <p:ext uri="{BB962C8B-B14F-4D97-AF65-F5344CB8AC3E}">
        <p14:creationId xmlns:p14="http://schemas.microsoft.com/office/powerpoint/2010/main" val="1755350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332BB4-F8C9-8A81-5F94-067CD2676AD6}"/>
              </a:ext>
            </a:extLst>
          </p:cNvPr>
          <p:cNvSpPr txBox="1"/>
          <p:nvPr/>
        </p:nvSpPr>
        <p:spPr>
          <a:xfrm>
            <a:off x="635000" y="381000"/>
            <a:ext cx="8255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Technical Architecture Status Breakdown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14FEF8-A1D3-99E8-1A99-18A243EB6E6C}"/>
              </a:ext>
            </a:extLst>
          </p:cNvPr>
          <p:cNvSpPr txBox="1"/>
          <p:nvPr/>
        </p:nvSpPr>
        <p:spPr>
          <a:xfrm>
            <a:off x="635000" y="1143000"/>
            <a:ext cx="7620000" cy="489364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/>
              <a:t>FRONTEND (FE)
• React 19 MFE: 🟢/🟡/🔴 | [X stories done]
• React Native: 🟢/🟡/🔴 | [X stories done]
• Figma Design System: 🟢/🟡/🔴 | [X components]
BACKEND (BE)
• Spring Boot 4: 🟢/🟡/🔴 | [X services]
API LAYER
• Apigee Gateway: 🟢/🟡/🔴 | [X endpoints]
• MCP Integration: 🟢/🟡/🔴 | [X tools]
AI SERVICES
• AI SDLC Workflows: 🟢/🟡/🔴 | [X agents]
IDENTITY &amp; ACCESS
• Ping AIC: 🟢/🟡/🔴 | IAM 4-Gate: 🟢/🟡/🔴
CLOUD (GCP)
• GKE Autopilot: 🟢/🟡/🔴 | GCS: 🟢/🟡/🔴
DATABASE
• AlloyDB: 🟢/🟡/🔴 | Spanner: 🟢/🟡/🔴
CDN &amp; EDGE
• Akamai: 🟢/🟡/🔴</a:t>
            </a:r>
          </a:p>
        </p:txBody>
      </p:sp>
    </p:spTree>
    <p:extLst>
      <p:ext uri="{BB962C8B-B14F-4D97-AF65-F5344CB8AC3E}">
        <p14:creationId xmlns:p14="http://schemas.microsoft.com/office/powerpoint/2010/main" val="3736293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942A34-A205-FCF4-287F-096EE984FFA2}"/>
              </a:ext>
            </a:extLst>
          </p:cNvPr>
          <p:cNvSpPr txBox="1"/>
          <p:nvPr/>
        </p:nvSpPr>
        <p:spPr>
          <a:xfrm>
            <a:off x="635000" y="635000"/>
            <a:ext cx="7620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/>
              <a:t>Action Items &amp; Escalations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1CDA3E-A2CD-5333-E0AD-066EB2D7B8F4}"/>
              </a:ext>
            </a:extLst>
          </p:cNvPr>
          <p:cNvSpPr txBox="1"/>
          <p:nvPr/>
        </p:nvSpPr>
        <p:spPr>
          <a:xfrm>
            <a:off x="635000" y="1524000"/>
            <a:ext cx="7620000" cy="246221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/>
              <a:t>DECISIONS REQUIRED TODAY
• [DR-XXX]: [Topic] | Recommendation: [one-liner]
ESCALATIONS FOR VP QUEUE
• [Item]: [Description] | Owner: [Name] | Deadline: [Date] | Impact: High/Med/Low
FOLLOW-UP ACTIONS
• [Action 1]: [Owner] | Due: [Date]
• [Action 2]: [Owner] | Due: [Date]
All actions will be published within 2 hours with owners and dates.</a:t>
            </a:r>
          </a:p>
        </p:txBody>
      </p:sp>
    </p:spTree>
    <p:extLst>
      <p:ext uri="{BB962C8B-B14F-4D97-AF65-F5344CB8AC3E}">
        <p14:creationId xmlns:p14="http://schemas.microsoft.com/office/powerpoint/2010/main" val="823662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62924E-3491-F860-ABE9-1A33E8F901C0}"/>
              </a:ext>
            </a:extLst>
          </p:cNvPr>
          <p:cNvSpPr txBox="1"/>
          <p:nvPr/>
        </p:nvSpPr>
        <p:spPr>
          <a:xfrm>
            <a:off x="635000" y="635000"/>
            <a:ext cx="7620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/>
              <a:t>Next Steps &amp; Closing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E7550D-B75C-1154-33AA-7CB24617F83F}"/>
              </a:ext>
            </a:extLst>
          </p:cNvPr>
          <p:cNvSpPr txBox="1"/>
          <p:nvPr/>
        </p:nvSpPr>
        <p:spPr>
          <a:xfrm>
            <a:off x="635000" y="1524000"/>
            <a:ext cx="7620000" cy="39703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/>
              <a:t>SUMMARY
[1-sentence program health statement]
NEXT MEETING
• Date: [Insert date]
• Pre-read deadline: [24 hours before]
KEY UPCOMING DATES
• Next Sprint Planning: [Date]
• Next Scrum-of-Scrums: [Date]
• Next Architecture Board: [Date]
• Next Phase Gate: [Date]
CONTACT
• Program Manager: [Your Name]
• Email: [Your Email]
Questions?</a:t>
            </a:r>
          </a:p>
        </p:txBody>
      </p:sp>
    </p:spTree>
    <p:extLst>
      <p:ext uri="{BB962C8B-B14F-4D97-AF65-F5344CB8AC3E}">
        <p14:creationId xmlns:p14="http://schemas.microsoft.com/office/powerpoint/2010/main" val="3451829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1226</Words>
  <Application>Microsoft Office PowerPoint</Application>
  <PresentationFormat>Widescreen</PresentationFormat>
  <Paragraphs>20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AI SDLC Program Status Check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Kumar, Rajendra</dc:creator>
  <cp:lastModifiedBy>Kumar, Rajendra</cp:lastModifiedBy>
  <cp:revision>1</cp:revision>
  <dcterms:created xsi:type="dcterms:W3CDTF">2026-08-18T16:24:14Z</dcterms:created>
  <dcterms:modified xsi:type="dcterms:W3CDTF">2026-08-18T16:24:14Z</dcterms:modified>
</cp:coreProperties>
</file>