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Apigee Multi-Region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6600"/>
                </a:solidFill>
              </a:defRPr>
            </a:pPr>
            <a:r>
              <a:t>&amp; 502 Error Debugging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Technical Program Manager |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003366"/>
                </a:solidFill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E2E Request Flow Overview</a:t>
            </a:r>
          </a:p>
          <a:p>
            <a:pPr>
              <a:defRPr sz="2400"/>
            </a:pPr>
            <a:r>
              <a:t>2. Key Components Explained</a:t>
            </a:r>
          </a:p>
          <a:p>
            <a:pPr>
              <a:defRPr sz="2400"/>
            </a:pPr>
            <a:r>
              <a:t>3. Understanding 502 Errors</a:t>
            </a:r>
          </a:p>
          <a:p>
            <a:pPr>
              <a:defRPr sz="2400"/>
            </a:pPr>
            <a:r>
              <a:t>4. Debugging Process (Step-by-Step)</a:t>
            </a:r>
          </a:p>
          <a:p>
            <a:pPr>
              <a:defRPr sz="2400"/>
            </a:pPr>
            <a:r>
              <a:t>5. Common Root Causes</a:t>
            </a:r>
          </a:p>
          <a:p>
            <a:pPr>
              <a:defRPr sz="2400"/>
            </a:pPr>
            <a:r>
              <a:t>6. Solutions &amp; Best Practices</a:t>
            </a:r>
          </a:p>
          <a:p>
            <a:pPr>
              <a:defRPr sz="2400"/>
            </a:pPr>
            <a:r>
              <a:t>7. Hardcoding Issue &amp; KVM Solution</a:t>
            </a:r>
          </a:p>
          <a:p>
            <a:pPr>
              <a:defRPr sz="2400"/>
            </a:pPr>
            <a:r>
              <a:t>8.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003366"/>
                </a:solidFill>
              </a:defRPr>
            </a:pPr>
            <a:r>
              <a:t>End-to-End Request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6400800" cy="54864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1. User/Client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api.autozone.com/ai/chatbot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0" y="2194560"/>
            <a:ext cx="182880" cy="1371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6400800" cy="54864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2. DNS Resolution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Resolves to 35.x.x.x (Apigee IP)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0" y="2926080"/>
            <a:ext cx="182880" cy="1371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108960"/>
            <a:ext cx="6400800" cy="548640"/>
          </a:xfrm>
          <a:prstGeom prst="rect">
            <a:avLst/>
          </a:prstGeom>
          <a:solidFill>
            <a:srgbClr val="E8F5E9"/>
          </a:solidFill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3. Apigee Gateway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Reads KVM, rewrites path /ai/chatbot → /v2/chat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3657600"/>
            <a:ext cx="182880" cy="1371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840480"/>
            <a:ext cx="6400800" cy="548640"/>
          </a:xfrm>
          <a:prstGeom prst="rect">
            <a:avLst/>
          </a:prstGeom>
          <a:solidFill>
            <a:srgbClr val="FFF3E0"/>
          </a:solidFill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4. Internal Load Balancer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Routes to Cloud Run via 10.128.0.5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4389120"/>
            <a:ext cx="182880" cy="1371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572000"/>
            <a:ext cx="6400800" cy="548640"/>
          </a:xfrm>
          <a:prstGeom prst="rect">
            <a:avLst/>
          </a:prstGeom>
          <a:solidFill>
            <a:srgbClr val="E3F2FD"/>
          </a:solidFill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5. Cloud Run (EUW3/EUW1)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Processes AI request, returns response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003366"/>
                </a:solidFill>
              </a:defRPr>
            </a:pPr>
            <a:r>
              <a:t>Key Components (1/3)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 b="1">
                <a:solidFill>
                  <a:srgbClr val="FF6600"/>
                </a:solidFill>
              </a:defRPr>
            </a:pPr>
            <a:r>
              <a:t>🌐 DNS (Domain Name System)</a:t>
            </a:r>
          </a:p>
          <a:p>
            <a:pPr lvl="1">
              <a:defRPr sz="1800"/>
            </a:pPr>
            <a:r>
              <a:t>Converts friendly names to IP addresses</a:t>
            </a:r>
          </a:p>
          <a:p>
            <a:pPr lvl="1">
              <a:defRPr sz="1800"/>
            </a:pPr>
            <a:r>
              <a:t>Example: api.autozone.com → 35.x.x.x</a:t>
            </a:r>
          </a:p>
          <a:p>
            <a:pPr lvl="1">
              <a:defRPr sz="1800"/>
            </a:pPr>
            <a:r>
              <a:t>Enables geo-routing: EU users → EUW3</a:t>
            </a:r>
          </a:p>
          <a:p>
            <a:pPr lvl="1">
              <a:defRPr sz="1800"/>
            </a:pPr>
            <a:r>
              <a:t>Supports failover: EUW3 down → EUW1</a:t>
            </a:r>
          </a:p>
          <a:p/>
          <a:p>
            <a:pPr>
              <a:defRPr sz="2800" b="1">
                <a:solidFill>
                  <a:srgbClr val="FF6600"/>
                </a:solidFill>
              </a:defRPr>
            </a:pPr>
            <a:r>
              <a:t>📍 Base Path</a:t>
            </a:r>
          </a:p>
          <a:p>
            <a:pPr lvl="1">
              <a:defRPr sz="1800"/>
            </a:pPr>
            <a:r>
              <a:t>The URL path users see and call</a:t>
            </a:r>
          </a:p>
          <a:p>
            <a:pPr lvl="1">
              <a:defRPr sz="1800"/>
            </a:pPr>
            <a:r>
              <a:t>Example: /ai/chatbot or /v1/recommendation</a:t>
            </a:r>
          </a:p>
          <a:p>
            <a:pPr lvl="1">
              <a:defRPr sz="1800"/>
            </a:pPr>
            <a:r>
              <a:t>Provides clean, consistent API for consumers</a:t>
            </a:r>
          </a:p>
          <a:p>
            <a:pPr lvl="1">
              <a:defRPr sz="1800"/>
            </a:pPr>
            <a:r>
              <a:t>Backend can change without affecting users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003366"/>
                </a:solidFill>
              </a:defRPr>
            </a:pPr>
            <a:r>
              <a:t>Key Components (2/3)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 b="1">
                <a:solidFill>
                  <a:srgbClr val="FF6600"/>
                </a:solidFill>
              </a:defRPr>
            </a:pPr>
            <a:r>
              <a:t>🎯 Target Path</a:t>
            </a:r>
          </a:p>
          <a:p>
            <a:pPr lvl="1">
              <a:defRPr sz="1800"/>
            </a:pPr>
            <a:r>
              <a:t>The actual path on your backend service</a:t>
            </a:r>
          </a:p>
          <a:p>
            <a:pPr lvl="1">
              <a:defRPr sz="1800"/>
            </a:pPr>
            <a:r>
              <a:t>Apigee rewrites: /ai/chatbot → /v2/chat</a:t>
            </a:r>
          </a:p>
          <a:p>
            <a:pPr lvl="1">
              <a:defRPr sz="1800"/>
            </a:pPr>
            <a:r>
              <a:t>Current issue: Hardcoded paths in Dev/QA vs Prod</a:t>
            </a:r>
          </a:p>
          <a:p>
            <a:pPr lvl="1">
              <a:defRPr sz="1800"/>
            </a:pPr>
            <a:r>
              <a:t>Solution: Use KVM for dynamic configuration</a:t>
            </a:r>
          </a:p>
          <a:p/>
          <a:p>
            <a:pPr>
              <a:defRPr sz="2800" b="1">
                <a:solidFill>
                  <a:srgbClr val="FF6600"/>
                </a:solidFill>
              </a:defRPr>
            </a:pPr>
            <a:r>
              <a:t>🗄️ KVM (Key-Value Maps)</a:t>
            </a:r>
          </a:p>
          <a:p>
            <a:pPr lvl="1">
              <a:defRPr sz="1800"/>
            </a:pPr>
            <a:r>
              <a:t>Secure storage for environment-specific settings</a:t>
            </a:r>
          </a:p>
          <a:p>
            <a:pPr lvl="1">
              <a:defRPr sz="1800"/>
            </a:pPr>
            <a:r>
              <a:t>No hardcoding in proxy code</a:t>
            </a:r>
          </a:p>
          <a:p>
            <a:pPr lvl="1">
              <a:defRPr sz="1800"/>
            </a:pPr>
            <a:r>
              <a:t>Change values without redeploying proxy</a:t>
            </a:r>
          </a:p>
          <a:p>
            <a:pPr lvl="1">
              <a:defRPr sz="1800"/>
            </a:pPr>
            <a:r>
              <a:t>Different values per environment (Dev/QA/Prod)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003366"/>
                </a:solidFill>
              </a:defRPr>
            </a:pPr>
            <a:r>
              <a:t>Key Components (3/3)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 b="1">
                <a:solidFill>
                  <a:srgbClr val="FF6600"/>
                </a:solidFill>
              </a:defRPr>
            </a:pPr>
            <a:r>
              <a:t>⚖️ Internal Load Balancer (ILB)</a:t>
            </a:r>
          </a:p>
          <a:p>
            <a:pPr lvl="1">
              <a:defRPr sz="1800"/>
            </a:pPr>
            <a:r>
              <a:t>Provides stable internal endpoint for Cloud Run</a:t>
            </a:r>
          </a:p>
          <a:p>
            <a:pPr lvl="1">
              <a:defRPr sz="1800"/>
            </a:pPr>
            <a:r>
              <a:t>Distributes traffic across multiple instances</a:t>
            </a:r>
          </a:p>
          <a:p>
            <a:pPr lvl="1">
              <a:defRPr sz="1800"/>
            </a:pPr>
            <a:r>
              <a:t>Enables private connectivity (not public internet)</a:t>
            </a:r>
          </a:p>
          <a:p>
            <a:pPr lvl="1">
              <a:defRPr sz="1800"/>
            </a:pPr>
            <a:r>
              <a:t>Config: EUW3 (80%) + EUW1 (20%) traffic split</a:t>
            </a:r>
          </a:p>
          <a:p/>
          <a:p>
            <a:pPr>
              <a:defRPr sz="2800" b="1">
                <a:solidFill>
                  <a:srgbClr val="FF6600"/>
                </a:solidFill>
              </a:defRPr>
            </a:pPr>
            <a:r>
              <a:t>🖥️ Target Backend Server</a:t>
            </a:r>
          </a:p>
          <a:p>
            <a:pPr lvl="1">
              <a:defRPr sz="1800"/>
            </a:pPr>
            <a:r>
              <a:t>Where Apigee actually sends the request</a:t>
            </a:r>
          </a:p>
          <a:p>
            <a:pPr lvl="1">
              <a:defRPr sz="1800"/>
            </a:pPr>
            <a:r>
              <a:t>Configured in Apigee: Host, Port, SSL settings</a:t>
            </a:r>
          </a:p>
          <a:p>
            <a:pPr lvl="1">
              <a:defRPr sz="1800"/>
            </a:pPr>
            <a:r>
              <a:t>Multi-region: Primary (EUW3) + Secondary (EUW1)</a:t>
            </a:r>
          </a:p>
          <a:p>
            <a:pPr lvl="1">
              <a:defRPr sz="1800"/>
            </a:pPr>
            <a:r>
              <a:t>Load balancing based on health checks &amp; policies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003366"/>
                </a:solidFill>
              </a:defRPr>
            </a:pPr>
            <a:r>
              <a:t>Understanding 502 Bad Gateway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6600"/>
                </a:solidFill>
              </a:defRPr>
            </a:pPr>
            <a:r>
              <a:t>What Does 502 Mean?</a:t>
            </a:r>
          </a:p>
          <a:p>
            <a:pPr>
              <a:defRPr sz="2200">
                <a:solidFill>
                  <a:srgbClr val="008000"/>
                </a:solidFill>
              </a:defRPr>
            </a:pPr>
            <a:r>
              <a:t>✅ Request reached ILB successfully</a:t>
            </a:r>
          </a:p>
          <a:p>
            <a:pPr>
              <a:defRPr sz="2200">
                <a:solidFill>
                  <a:srgbClr val="FF0000"/>
                </a:solidFill>
              </a:defRPr>
            </a:pPr>
            <a:r>
              <a:t>❌ ILB couldn't get valid response from Cloud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Where the Problem Occurs:</a:t>
            </a:r>
          </a:p>
          <a:p>
            <a:pPr>
              <a:defRPr sz="2000">
                <a:solidFill>
                  <a:srgbClr val="003366"/>
                </a:solidFill>
              </a:defRPr>
            </a:pPr>
            <a:r>
              <a:t>User → DNS → Apigee → ILB → Cloud Run</a:t>
            </a:r>
          </a:p>
          <a:p>
            <a:pPr>
              <a:defRPr sz="2000">
                <a:solidFill>
                  <a:srgbClr val="FF0000"/>
                </a:solidFill>
              </a:defRPr>
            </a:pPr>
            <a:r>
              <a:t>                                    ↑</a:t>
            </a:r>
          </a:p>
          <a:p>
            <a:pPr>
              <a:defRPr sz="2000" b="1">
                <a:solidFill>
                  <a:srgbClr val="FF0000"/>
                </a:solidFill>
              </a:defRPr>
            </a:pPr>
            <a:r>
              <a:t>                         502 happens here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Debugging Process: 10-Step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Check Apigee Trace - What URL/error?</a:t>
            </a:r>
          </a:p>
          <a:p>
            <a:pPr>
              <a:defRPr sz="1800"/>
            </a:pPr>
            <a:r>
              <a:t>2. Check ILB backend health status</a:t>
            </a:r>
          </a:p>
          <a:p>
            <a:pPr>
              <a:defRPr sz="1800"/>
            </a:pPr>
            <a:r>
              <a:t>3. Check Cloud Run logs - Are requests arriving?</a:t>
            </a:r>
          </a:p>
          <a:p>
            <a:pPr>
              <a:defRPr sz="1800"/>
            </a:pPr>
            <a:r>
              <a:t>4. Check Cloud Run service status - Is it running?</a:t>
            </a:r>
          </a:p>
          <a:p>
            <a:pPr>
              <a:defRPr sz="1800"/>
            </a:pPr>
            <a:r>
              <a:t>5. Check timeout chain - ILB &gt; Cloud Run?</a:t>
            </a:r>
          </a:p>
          <a:p>
            <a:pPr>
              <a:defRPr sz="1800"/>
            </a:pPr>
            <a:r>
              <a:t>6. Check firewall rules - Is traffic allowed?</a:t>
            </a:r>
          </a:p>
          <a:p>
            <a:pPr>
              <a:defRPr sz="1800"/>
            </a:pPr>
            <a:r>
              <a:t>7. Check VPC connector - Cloud Run connected?</a:t>
            </a:r>
          </a:p>
          <a:p>
            <a:pPr>
              <a:defRPr sz="1800"/>
            </a:pPr>
            <a:r>
              <a:t>8. Check health check endpoint - /health exists?</a:t>
            </a:r>
          </a:p>
          <a:p>
            <a:pPr>
              <a:defRPr sz="1800"/>
            </a:pPr>
            <a:r>
              <a:t>9. Check protocol match - HTTP vs HTTPS?</a:t>
            </a:r>
          </a:p>
          <a:p>
            <a:pPr>
              <a:defRPr sz="1800"/>
            </a:pPr>
            <a:r>
              <a:t>10. Test direct curl from VPC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003366"/>
                </a:solidFill>
              </a:defRPr>
            </a:pPr>
            <a:r>
              <a:t>Step 1: Check Apigee Trace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Why: Captures full request/response flow</a:t>
            </a:r>
          </a:p>
          <a:p/>
          <a:p>
            <a:pPr>
              <a:defRPr sz="2200" b="1">
                <a:solidFill>
                  <a:srgbClr val="FF6600"/>
                </a:solidFill>
              </a:defRPr>
            </a:pPr>
            <a:r>
              <a:t>Key Variables to Check:</a:t>
            </a:r>
          </a:p>
          <a:p>
            <a:pPr lvl="1">
              <a:defRPr sz="1800"/>
            </a:pPr>
            <a:r>
              <a:t>target.url - What URL did Apigee call?</a:t>
            </a:r>
          </a:p>
          <a:p>
            <a:pPr lvl="1">
              <a:defRPr sz="1800"/>
            </a:pPr>
            <a:r>
              <a:t>target.host - Correct backend server?</a:t>
            </a:r>
          </a:p>
          <a:p>
            <a:pPr lvl="1">
              <a:defRPr sz="1800"/>
            </a:pPr>
            <a:r>
              <a:t>target.port - Usually 443 for Cloud Run</a:t>
            </a:r>
          </a:p>
          <a:p>
            <a:pPr lvl="1">
              <a:defRPr sz="1800"/>
            </a:pPr>
            <a:r>
              <a:t>target.error.message - Actual error from backend</a:t>
            </a:r>
          </a:p>
          <a:p>
            <a:pPr lvl="1">
              <a:defRPr sz="1800"/>
            </a:pPr>
            <a:r>
              <a:t>response.status.code - 502</a:t>
            </a:r>
          </a:p>
          <a:p>
            <a:pPr lvl="1">
              <a:defRPr sz="1800"/>
            </a:pPr>
            <a:r>
              <a:t>upstream.response.time - Timeout duration?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003366"/>
                </a:solidFill>
              </a:defRPr>
            </a:pPr>
            <a:r>
              <a:t>Step 2: Check ILB Health Checks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Why: ILB marks backends unhealthy if they fail checks</a:t>
            </a:r>
          </a:p>
          <a:p/>
          <a:p>
            <a:pPr>
              <a:defRPr sz="2200" b="1">
                <a:solidFill>
                  <a:srgbClr val="FF6600"/>
                </a:solidFill>
              </a:defRPr>
            </a:pPr>
            <a:r>
              <a:t>Common Issues:</a:t>
            </a:r>
          </a:p>
          <a:p>
            <a:pPr lvl="1">
              <a:defRPr sz="1800"/>
            </a:pPr>
            <a:r>
              <a:t>❌ Health check path wrong: /health vs /healthz</a:t>
            </a:r>
          </a:p>
          <a:p>
            <a:pPr lvl="1">
              <a:defRPr sz="1800"/>
            </a:pPr>
            <a:r>
              <a:t>❌ Health check timeout too short</a:t>
            </a:r>
          </a:p>
          <a:p>
            <a:pPr lvl="1">
              <a:defRPr sz="1800"/>
            </a:pPr>
            <a:r>
              <a:t>❌ Cloud Run not responding to health checks</a:t>
            </a:r>
          </a:p>
          <a:p>
            <a:pPr lvl="1">
              <a:defRPr sz="1800"/>
            </a:pPr>
            <a:r>
              <a:t>❌ Health check port mismatch (80 vs 443)</a:t>
            </a:r>
          </a:p>
          <a:p/>
          <a:p>
            <a:pPr>
              <a:defRPr sz="1800" b="1"/>
            </a:pPr>
            <a:r>
              <a:t>Command:</a:t>
            </a:r>
          </a:p>
          <a:p>
            <a:pPr>
              <a:defRPr sz="1400">
                <a:latin typeface="Courier New"/>
              </a:defRPr>
            </a:pPr>
            <a:r>
              <a:t>gcloud compute backend-services get-health [ILB-NAME] --region=europe-west3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003366"/>
                </a:solidFill>
              </a:defRPr>
            </a:pPr>
            <a:r>
              <a:t>Step 3: Check Cloud Run Logs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Why: See if requests arrive &amp; what errors occur</a:t>
            </a:r>
          </a:p>
          <a:p/>
          <a:p>
            <a:pPr>
              <a:defRPr sz="2200" b="1">
                <a:solidFill>
                  <a:srgbClr val="FF6600"/>
                </a:solidFill>
              </a:defRPr>
            </a:pPr>
            <a:r>
              <a:t>Common Error Patterns:</a:t>
            </a:r>
          </a:p>
          <a:p>
            <a:pPr lvl="1">
              <a:defRPr sz="1800"/>
            </a:pPr>
            <a:r>
              <a:t>"connection refused" → Cloud Run not listening on port</a:t>
            </a:r>
          </a:p>
          <a:p>
            <a:pPr lvl="1">
              <a:defRPr sz="1800"/>
            </a:pPr>
            <a:r>
              <a:t>"upstream timeout" → Request taking too long</a:t>
            </a:r>
          </a:p>
          <a:p>
            <a:pPr lvl="1">
              <a:defRPr sz="1800"/>
            </a:pPr>
            <a:r>
              <a:t>"out of memory" → Container crashed</a:t>
            </a:r>
          </a:p>
          <a:p>
            <a:pPr lvl="1">
              <a:defRPr sz="1800"/>
            </a:pPr>
            <a:r>
              <a:t>"container failed to start" → Image/startup issue</a:t>
            </a:r>
          </a:p>
          <a:p>
            <a:pPr lvl="1">
              <a:defRPr sz="1800"/>
            </a:pPr>
            <a:r>
              <a:t>No logs at all → Traffic not reaching Cloud Run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003366"/>
                </a:solidFill>
              </a:defRPr>
            </a:pPr>
            <a:r>
              <a:t>Critical: Timeout Chain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0000"/>
                </a:solidFill>
              </a:defRPr>
            </a:pPr>
            <a:r>
              <a:t>⚠️ THE RULE: Each layer timeout must be &gt; next layer's timeout</a:t>
            </a:r>
          </a:p>
          <a:p/>
          <a:p>
            <a:pPr>
              <a:defRPr sz="1600" b="1">
                <a:latin typeface="Courier New"/>
              </a:defRPr>
            </a:pPr>
            <a:r>
              <a:t>Component                   Timeout          Recommended</a:t>
            </a:r>
          </a:p>
          <a:p>
            <a:pPr>
              <a:defRPr sz="1600">
                <a:latin typeface="Courier New"/>
              </a:defRPr>
            </a:pPr>
            <a:r>
              <a:t>User/Browser                120s             N/A</a:t>
            </a:r>
          </a:p>
          <a:p>
            <a:pPr>
              <a:defRPr sz="1600">
                <a:latin typeface="Courier New"/>
              </a:defRPr>
            </a:pPr>
            <a:r>
              <a:t>Apigee Proxy                60s (default)    120s+</a:t>
            </a:r>
          </a:p>
          <a:p>
            <a:pPr>
              <a:defRPr sz="1600">
                <a:latin typeface="Courier New"/>
              </a:defRPr>
            </a:pPr>
            <a:r>
              <a:t>ILB Backend                 30s (default)    300s+</a:t>
            </a:r>
          </a:p>
          <a:p>
            <a:pPr>
              <a:defRPr sz="1600">
                <a:latin typeface="Courier New"/>
              </a:defRPr>
            </a:pPr>
            <a:r>
              <a:t>Cloud Run                   300s (default)   300s</a:t>
            </a:r>
          </a:p>
          <a:p>
            <a:pPr>
              <a:defRPr sz="1600">
                <a:latin typeface="Courier New"/>
              </a:defRPr>
            </a:pPr>
            <a:r>
              <a:t>AI Model                    Actual: 45s      N/A</a:t>
            </a:r>
          </a:p>
          <a:p/>
          <a:p>
            <a:pPr>
              <a:defRPr sz="1800" b="1">
                <a:solidFill>
                  <a:srgbClr val="FF6600"/>
                </a:solidFill>
              </a:defRPr>
            </a:pPr>
            <a:r>
              <a:t>🚨 Most common 502 cause: ILB timeout (30s) &lt; Cloud Run processing (45s)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Common 502 Root Causes (By Frequency)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FF6600"/>
                </a:solidFill>
              </a:defRPr>
            </a:pPr>
            <a:r>
              <a:t>1. Timeout Mismatch (60%)</a:t>
            </a:r>
          </a:p>
          <a:p>
            <a:pPr>
              <a:defRPr sz="1400"/>
            </a:pPr>
            <a:r>
              <a:t>   ILB timeout &lt; Cloud Run processing time</a:t>
            </a:r>
          </a:p>
          <a:p>
            <a:pPr>
              <a:defRPr sz="1400"/>
            </a:pPr>
            <a:r>
              <a:t>   Increase ILB timeout to 300s</a:t>
            </a:r>
          </a:p>
          <a:p/>
          <a:p>
            <a:pPr>
              <a:defRPr sz="1800" b="1">
                <a:solidFill>
                  <a:srgbClr val="FF6600"/>
                </a:solidFill>
              </a:defRPr>
            </a:pPr>
            <a:r>
              <a:t>2. Unhealthy Backend (20%)</a:t>
            </a:r>
          </a:p>
          <a:p>
            <a:pPr>
              <a:defRPr sz="1400"/>
            </a:pPr>
            <a:r>
              <a:t>   Health check fails → backend marked unhealthy</a:t>
            </a:r>
          </a:p>
          <a:p>
            <a:pPr>
              <a:defRPr sz="1400"/>
            </a:pPr>
            <a:r>
              <a:t>   Fix health check endpoint or thresholds</a:t>
            </a:r>
          </a:p>
          <a:p/>
          <a:p>
            <a:pPr>
              <a:defRPr sz="1800" b="1">
                <a:solidFill>
                  <a:srgbClr val="FF6600"/>
                </a:solidFill>
              </a:defRPr>
            </a:pPr>
            <a:r>
              <a:t>3. Cloud Run Cold Start (10%)</a:t>
            </a:r>
          </a:p>
          <a:p>
            <a:pPr>
              <a:defRPr sz="1400"/>
            </a:pPr>
            <a:r>
              <a:t>   No min instances → cold start takes too long</a:t>
            </a:r>
          </a:p>
          <a:p>
            <a:pPr>
              <a:defRPr sz="1400"/>
            </a:pPr>
            <a:r>
              <a:t>   Set minScale: 1 on Cloud Run</a:t>
            </a:r>
          </a:p>
          <a:p/>
          <a:p>
            <a:pPr>
              <a:defRPr sz="1800" b="1">
                <a:solidFill>
                  <a:srgbClr val="FF6600"/>
                </a:solidFill>
              </a:defRPr>
            </a:pPr>
            <a:r>
              <a:t>4. Network/Firewall (5%)</a:t>
            </a:r>
          </a:p>
          <a:p>
            <a:pPr>
              <a:defRPr sz="1400"/>
            </a:pPr>
            <a:r>
              <a:t>   Firewall blocks ILB → Cloud Run traffic</a:t>
            </a:r>
          </a:p>
          <a:p>
            <a:pPr>
              <a:defRPr sz="1400"/>
            </a:pPr>
            <a:r>
              <a:t>   Add firewall rule allowing ILB subnet</a:t>
            </a:r>
          </a:p>
          <a:p/>
          <a:p>
            <a:pPr>
              <a:defRPr sz="1800" b="1">
                <a:solidFill>
                  <a:srgbClr val="FF6600"/>
                </a:solidFill>
              </a:defRPr>
            </a:pPr>
            <a:r>
              <a:t>5. Wrong Target Config (5%)</a:t>
            </a:r>
          </a:p>
          <a:p>
            <a:pPr>
              <a:defRPr sz="1400"/>
            </a:pPr>
            <a:r>
              <a:t>   Apigee points to old ILB IP</a:t>
            </a:r>
          </a:p>
          <a:p>
            <a:pPr>
              <a:defRPr sz="1400"/>
            </a:pPr>
            <a:r>
              <a:t>   Update Apigee target server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003366"/>
                </a:solidFill>
              </a:defRPr>
            </a:pPr>
            <a:r>
              <a:t>Current Issue: Hardcoded Paths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solidFill>
            <a:srgbClr val="FFE6E6"/>
          </a:solidFill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0000"/>
                </a:solidFill>
              </a:defRPr>
            </a:pPr>
            <a:r>
              <a:t>❌ Current Approach (Hardcoded)</a:t>
            </a:r>
          </a:p>
          <a:p>
            <a:pPr>
              <a:defRPr sz="1600">
                <a:latin typeface="Courier New"/>
              </a:defRPr>
            </a:pPr>
            <a:r>
              <a:t>if (environment == "prod") {</a:t>
            </a:r>
          </a:p>
          <a:p>
            <a:pPr>
              <a:defRPr sz="1600">
                <a:latin typeface="Courier New"/>
              </a:defRPr>
            </a:pPr>
            <a:r>
              <a:t>  targetPath = "/multi-region/ai-service";</a:t>
            </a:r>
          </a:p>
          <a:p>
            <a:pPr>
              <a:defRPr sz="1600">
                <a:latin typeface="Courier New"/>
              </a:defRPr>
            </a:pPr>
            <a:r>
              <a:t>} else {</a:t>
            </a:r>
          </a:p>
          <a:p>
            <a:pPr>
              <a:defRPr sz="1600">
                <a:latin typeface="Courier New"/>
              </a:defRPr>
            </a:pPr>
            <a:r>
              <a:t>  targetPath = "/europe-west3/ai-service";</a:t>
            </a:r>
          </a:p>
          <a:p>
            <a:pPr>
              <a:defRPr sz="1600">
                <a:latin typeface="Courier New"/>
              </a:defRPr>
            </a:pPr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Problems:</a:t>
            </a:r>
          </a:p>
          <a:p>
            <a:pPr>
              <a:defRPr sz="1600"/>
            </a:pPr>
            <a:r>
              <a:t>• Different code for different environments</a:t>
            </a:r>
          </a:p>
          <a:p>
            <a:pPr>
              <a:defRPr sz="1600"/>
            </a:pPr>
            <a:r>
              <a:t>• Requires code change to update paths</a:t>
            </a:r>
          </a:p>
          <a:p>
            <a:pPr>
              <a:defRPr sz="1600"/>
            </a:pPr>
            <a:r>
              <a:t>• Deployment needed for configuration changes</a:t>
            </a:r>
          </a:p>
          <a:p>
            <a:pPr>
              <a:defRPr sz="1600"/>
            </a:pPr>
            <a:r>
              <a:t>• Doesn't scale for multiple regions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003366"/>
                </a:solidFill>
              </a:defRPr>
            </a:pPr>
            <a:r>
              <a:t>Solution: Use KVM (Key-Value Maps)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solidFill>
            <a:srgbClr val="E6FFE6"/>
          </a:solidFill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8000"/>
                </a:solidFill>
              </a:defRPr>
            </a:pPr>
            <a:r>
              <a:t>✅ Recommended Approach (KVM)</a:t>
            </a:r>
          </a:p>
          <a:p>
            <a:pPr>
              <a:defRPr sz="1600">
                <a:latin typeface="Courier New"/>
              </a:defRPr>
            </a:pPr>
            <a:r>
              <a:t>var region = context.getVariable("kvm.region_path");</a:t>
            </a:r>
          </a:p>
          <a:p>
            <a:pPr>
              <a:defRPr sz="1600">
                <a:latin typeface="Courier New"/>
              </a:defRPr>
            </a:pPr>
            <a:r>
              <a:t>var targetPath = "/services/" + region + "/ai";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KVM Configuration per Environment:</a:t>
            </a:r>
          </a:p>
          <a:p>
            <a:pPr>
              <a:defRPr sz="1600">
                <a:latin typeface="Courier New"/>
              </a:defRPr>
            </a:pPr>
            <a:r>
              <a:t>Dev:   region_path = 'europe-west3'</a:t>
            </a:r>
          </a:p>
          <a:p>
            <a:pPr>
              <a:defRPr sz="1600">
                <a:latin typeface="Courier New"/>
              </a:defRPr>
            </a:pPr>
            <a:r>
              <a:t>QA:    region_path = 'europe-west3'</a:t>
            </a:r>
          </a:p>
          <a:p>
            <a:pPr>
              <a:defRPr sz="1600">
                <a:latin typeface="Courier New"/>
              </a:defRPr>
            </a:pPr>
            <a:r>
              <a:t>Stage: region_path = 'multi-region'</a:t>
            </a:r>
          </a:p>
          <a:p>
            <a:pPr>
              <a:defRPr sz="1600">
                <a:latin typeface="Courier New"/>
              </a:defRPr>
            </a:pPr>
            <a:r>
              <a:t>Prod:  region_path = 'multi-region'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6600"/>
                </a:solidFill>
              </a:defRPr>
            </a:pPr>
            <a:r>
              <a:t>Benefits:</a:t>
            </a:r>
          </a:p>
          <a:p>
            <a:pPr>
              <a:defRPr sz="1400"/>
            </a:pPr>
            <a:r>
              <a:t>✅ No code changes between environments</a:t>
            </a:r>
          </a:p>
          <a:p>
            <a:pPr>
              <a:defRPr sz="1400"/>
            </a:pPr>
            <a:r>
              <a:t>✅ Easy to update (just change KVM value)</a:t>
            </a:r>
          </a:p>
          <a:p>
            <a:pPr>
              <a:defRPr sz="1400"/>
            </a:pPr>
            <a:r>
              <a:t>✅ No redeployment needed</a:t>
            </a:r>
          </a:p>
          <a:p>
            <a:pPr>
              <a:defRPr sz="1400"/>
            </a:pPr>
            <a:r>
              <a:t>✅ Consistent structure across all environments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003366"/>
                </a:solidFill>
              </a:defRPr>
            </a:pPr>
            <a:r>
              <a:t>Quick Debug 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PowerShell script to check all critical components:</a:t>
            </a:r>
          </a:p>
          <a:p/>
          <a:p>
            <a:pPr lvl="1">
              <a:defRPr sz="2000"/>
            </a:pPr>
            <a:r>
              <a:t>1. Cloud Run service status</a:t>
            </a:r>
          </a:p>
          <a:p>
            <a:pPr lvl="1">
              <a:defRPr sz="2000"/>
            </a:pPr>
            <a:r>
              <a:t>2. Cloud Run recent errors (last 10 min)</a:t>
            </a:r>
          </a:p>
          <a:p>
            <a:pPr lvl="1">
              <a:defRPr sz="2000"/>
            </a:pPr>
            <a:r>
              <a:t>3. ILB backend health</a:t>
            </a:r>
          </a:p>
          <a:p>
            <a:pPr lvl="1">
              <a:defRPr sz="2000"/>
            </a:pPr>
            <a:r>
              <a:t>4. ILB timeout configuration</a:t>
            </a:r>
          </a:p>
          <a:p>
            <a:pPr lvl="1">
              <a:defRPr sz="2000"/>
            </a:pPr>
            <a:r>
              <a:t>5. VPC connector status</a:t>
            </a:r>
          </a:p>
          <a:p>
            <a:pPr lvl="1">
              <a:defRPr sz="2000"/>
            </a:pPr>
            <a:r>
              <a:t>6. Firewall rules</a:t>
            </a:r>
          </a:p>
          <a:p/>
          <a:p>
            <a:pPr>
              <a:defRPr sz="1800" b="1">
                <a:solidFill>
                  <a:srgbClr val="FF6600"/>
                </a:solidFill>
              </a:defRPr>
            </a:pPr>
            <a:r>
              <a:t>Script available: debug-502.ps1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003366"/>
                </a:solidFill>
              </a:defRPr>
            </a:pPr>
            <a:r>
              <a:t>Multi-Region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3200400" cy="2743200"/>
          </a:xfrm>
          <a:prstGeom prst="rect">
            <a:avLst/>
          </a:prstGeom>
          <a:solidFill>
            <a:srgbClr val="E3F2FD"/>
          </a:solidFill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3366"/>
                </a:solidFill>
              </a:defRPr>
            </a:pPr>
            <a:r>
              <a:t>Europe-West3 (Primary)</a:t>
            </a:r>
          </a:p>
          <a:p>
            <a:pPr algn="ctr">
              <a:defRPr sz="1400"/>
            </a:pPr>
          </a:p>
          <a:p>
            <a:pPr algn="ctr">
              <a:defRPr sz="1400"/>
            </a:pPr>
            <a:r>
              <a:t>Apigee Gateway</a:t>
            </a:r>
          </a:p>
          <a:p>
            <a:pPr algn="ctr">
              <a:defRPr sz="1400"/>
            </a:pPr>
            <a:r>
              <a:t>↓</a:t>
            </a:r>
          </a:p>
          <a:p>
            <a:pPr algn="ctr">
              <a:defRPr sz="1400"/>
            </a:pPr>
            <a:r>
              <a:t>ILB (10.128.0.5)</a:t>
            </a:r>
          </a:p>
          <a:p>
            <a:pPr algn="ctr">
              <a:defRPr sz="1400"/>
            </a:pPr>
            <a:r>
              <a:t>↓</a:t>
            </a:r>
          </a:p>
          <a:p>
            <a:pPr algn="ctr">
              <a:defRPr sz="1400"/>
            </a:pPr>
            <a:r>
              <a:t>Cloud Run AI</a:t>
            </a:r>
          </a:p>
          <a:p>
            <a:pPr algn="ctr">
              <a:defRPr sz="1400"/>
            </a:pPr>
            <a:r>
              <a:t>80% Traffic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286000"/>
            <a:ext cx="3200400" cy="2743200"/>
          </a:xfrm>
          <a:prstGeom prst="rect">
            <a:avLst/>
          </a:prstGeom>
          <a:solidFill>
            <a:srgbClr val="F1F8E9"/>
          </a:solidFill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3366"/>
                </a:solidFill>
              </a:defRPr>
            </a:pPr>
            <a:r>
              <a:t>Europe-West1 (Secondary)</a:t>
            </a:r>
          </a:p>
          <a:p>
            <a:pPr algn="ctr">
              <a:defRPr sz="1400"/>
            </a:pPr>
          </a:p>
          <a:p>
            <a:pPr algn="ctr">
              <a:defRPr sz="1400"/>
            </a:pPr>
            <a:r>
              <a:t>Apigee Gateway</a:t>
            </a:r>
          </a:p>
          <a:p>
            <a:pPr algn="ctr">
              <a:defRPr sz="1400"/>
            </a:pPr>
            <a:r>
              <a:t>↓</a:t>
            </a:r>
          </a:p>
          <a:p>
            <a:pPr algn="ctr">
              <a:defRPr sz="1400"/>
            </a:pPr>
            <a:r>
              <a:t>ILB (10.129.0.5)</a:t>
            </a:r>
          </a:p>
          <a:p>
            <a:pPr algn="ctr">
              <a:defRPr sz="1400"/>
            </a:pPr>
            <a:r>
              <a:t>↓</a:t>
            </a:r>
          </a:p>
          <a:p>
            <a:pPr algn="ctr">
              <a:defRPr sz="1400"/>
            </a:pPr>
            <a:r>
              <a:t>Cloud Run AI</a:t>
            </a:r>
          </a:p>
          <a:p>
            <a:pPr algn="ctr">
              <a:defRPr sz="1400"/>
            </a:pPr>
            <a:r>
              <a:t>20% Traffic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371600"/>
            <a:ext cx="3657600" cy="548640"/>
          </a:xfrm>
          <a:prstGeom prst="rect">
            <a:avLst/>
          </a:prstGeom>
          <a:solidFill>
            <a:srgbClr val="FFF4E1"/>
          </a:solidFill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Cloud DNS (Geo-routing)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003366"/>
                </a:solidFill>
              </a:defRPr>
            </a:pPr>
            <a:r>
              <a:t>Next Steps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 b="1">
                <a:solidFill>
                  <a:srgbClr val="FF6600"/>
                </a:solidFill>
              </a:defRPr>
            </a:pPr>
            <a:r>
              <a:t>Immediate Actions</a:t>
            </a:r>
          </a:p>
          <a:p>
            <a:pPr lvl="1">
              <a:defRPr sz="1800"/>
            </a:pPr>
            <a:r>
              <a:t>Replace hardcoded paths with KVM</a:t>
            </a:r>
          </a:p>
          <a:p>
            <a:pPr lvl="1">
              <a:defRPr sz="1800"/>
            </a:pPr>
            <a:r>
              <a:t>Set up monitoring alerts for ILB health</a:t>
            </a:r>
          </a:p>
          <a:p>
            <a:pPr lvl="1">
              <a:defRPr sz="1800"/>
            </a:pPr>
            <a:r>
              <a:t>Document runbook for on-call team</a:t>
            </a:r>
          </a:p>
          <a:p>
            <a:pPr lvl="1">
              <a:defRPr sz="1800"/>
            </a:pPr>
            <a:r>
              <a:t>Test failover scenarios (EUW3 → EUW1)</a:t>
            </a:r>
          </a:p>
          <a:p/>
          <a:p>
            <a:pPr>
              <a:defRPr sz="2600" b="1">
                <a:solidFill>
                  <a:srgbClr val="FF6600"/>
                </a:solidFill>
              </a:defRPr>
            </a:pPr>
            <a:r>
              <a:t>Long-term Improvements</a:t>
            </a:r>
          </a:p>
          <a:p>
            <a:pPr lvl="1">
              <a:defRPr sz="1800"/>
            </a:pPr>
            <a:r>
              <a:t>Automated health monitoring &amp; alerting</a:t>
            </a:r>
          </a:p>
          <a:p>
            <a:pPr lvl="1">
              <a:defRPr sz="1800"/>
            </a:pPr>
            <a:r>
              <a:t>SLO/SLA tracking (99.9% availability)</a:t>
            </a:r>
          </a:p>
          <a:p>
            <a:pPr lvl="1">
              <a:defRPr sz="1800"/>
            </a:pPr>
            <a:r>
              <a:t>Load testing for timeout configurations</a:t>
            </a:r>
          </a:p>
          <a:p>
            <a:pPr lvl="1">
              <a:defRPr sz="1800"/>
            </a:pPr>
            <a:r>
              <a:t>Comprehensive disaster recovery plan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003366"/>
                </a:solidFill>
              </a:defRPr>
            </a:pPr>
            <a:r>
              <a:t>Resources &amp; Escalation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>
                <a:solidFill>
                  <a:srgbClr val="FF6600"/>
                </a:solidFill>
              </a:defRPr>
            </a:pPr>
            <a:r>
              <a:t>For 502 Issues:</a:t>
            </a:r>
          </a:p>
          <a:p>
            <a:pPr lvl="1">
              <a:defRPr sz="1800"/>
            </a:pPr>
            <a:r>
              <a:t>1. Check debugging guide</a:t>
            </a:r>
          </a:p>
          <a:p>
            <a:pPr lvl="1">
              <a:defRPr sz="1800"/>
            </a:pPr>
            <a:r>
              <a:t>2. Run debug script: debug-502.ps1</a:t>
            </a:r>
          </a:p>
          <a:p>
            <a:pPr lvl="1">
              <a:defRPr sz="1800"/>
            </a:pPr>
            <a:r>
              <a:t>3. Review Apigee trace + Cloud Run logs</a:t>
            </a:r>
          </a:p>
          <a:p>
            <a:pPr lvl="1">
              <a:defRPr sz="1800"/>
            </a:pPr>
            <a:r>
              <a:t>4. Escalate to Platform Team / SRE</a:t>
            </a:r>
          </a:p>
          <a:p/>
          <a:p>
            <a:pPr>
              <a:defRPr sz="2400" b="1">
                <a:solidFill>
                  <a:srgbClr val="FF6600"/>
                </a:solidFill>
              </a:defRPr>
            </a:pPr>
            <a:r>
              <a:t>For Configuration Changes:</a:t>
            </a:r>
          </a:p>
          <a:p>
            <a:pPr lvl="1">
              <a:defRPr sz="1800"/>
            </a:pPr>
            <a:r>
              <a:t>KVM updates: Apigee Admin</a:t>
            </a:r>
          </a:p>
          <a:p>
            <a:pPr lvl="1">
              <a:defRPr sz="1800"/>
            </a:pPr>
            <a:r>
              <a:t>ILB changes: Network Team</a:t>
            </a:r>
          </a:p>
          <a:p>
            <a:pPr lvl="1">
              <a:defRPr sz="1800"/>
            </a:pPr>
            <a:r>
              <a:t>Cloud Run changes: Cloud Platform Team</a:t>
            </a:r>
          </a:p>
          <a:p/>
          <a:p>
            <a:pPr>
              <a:defRPr sz="2400" b="1">
                <a:solidFill>
                  <a:srgbClr val="FF6600"/>
                </a:solidFill>
              </a:defRPr>
            </a:pPr>
            <a:r>
              <a:t>Documentation:</a:t>
            </a:r>
          </a:p>
          <a:p>
            <a:pPr lvl="1">
              <a:defRPr sz="1800"/>
            </a:pPr>
            <a:r>
              <a:t>apigee-502-debugging-guide.md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6600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